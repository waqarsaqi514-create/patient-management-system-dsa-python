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72" r:id="rId3"/>
  </p:sldMasterIdLst>
  <p:notesMasterIdLst>
    <p:notesMasterId r:id="rId20"/>
  </p:notesMasterIdLst>
  <p:sldIdLst>
    <p:sldId id="278" r:id="rId4"/>
    <p:sldId id="257" r:id="rId5"/>
    <p:sldId id="277" r:id="rId6"/>
    <p:sldId id="268" r:id="rId7"/>
    <p:sldId id="259" r:id="rId8"/>
    <p:sldId id="260" r:id="rId9"/>
    <p:sldId id="269" r:id="rId10"/>
    <p:sldId id="271" r:id="rId11"/>
    <p:sldId id="270" r:id="rId12"/>
    <p:sldId id="272" r:id="rId13"/>
    <p:sldId id="273" r:id="rId14"/>
    <p:sldId id="265" r:id="rId15"/>
    <p:sldId id="262" r:id="rId16"/>
    <p:sldId id="266" r:id="rId17"/>
    <p:sldId id="276" r:id="rId18"/>
    <p:sldId id="279" r:id="rId19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8FF"/>
    <a:srgbClr val="002A80"/>
    <a:srgbClr val="0A0E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2" name="Google Shape;10;p2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" name="Google Shape;11;p2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4" name="Google Shape;12;p2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" name="Google Shape;13;p2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" name="Google Shape;14;p2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7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1854000"/>
            <a:ext cx="5257440" cy="240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 hasCustomPrompt="1"/>
          </p:nvPr>
        </p:nvSpPr>
        <p:spPr>
          <a:xfrm>
            <a:off x="6341040" y="1006920"/>
            <a:ext cx="2573640" cy="390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90;p11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9" name="Google Shape;91;p11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" name="Google Shape;92;p11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1" name="Google Shape;93;p11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94;p11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95;p11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" name="PlaceHolder 1"/>
          <p:cNvSpPr>
            <a:spLocks noGrp="1"/>
          </p:cNvSpPr>
          <p:nvPr>
            <p:ph type="title" hasCustomPrompt="1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00;p1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6" name="Google Shape;101;p1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7" name="Google Shape;102;p1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8" name="Google Shape;103;p1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104;p1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105;p1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1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4339080"/>
            <a:ext cx="8686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title" hasCustomPrompt="1"/>
          </p:nvPr>
        </p:nvSpPr>
        <p:spPr>
          <a:xfrm>
            <a:off x="8462520" y="188748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 hasCustomPrompt="1"/>
          </p:nvPr>
        </p:nvSpPr>
        <p:spPr>
          <a:xfrm>
            <a:off x="8462520" y="92484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 hasCustomPrompt="1"/>
          </p:nvPr>
        </p:nvSpPr>
        <p:spPr>
          <a:xfrm>
            <a:off x="8462520" y="236880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title" hasCustomPrompt="1"/>
          </p:nvPr>
        </p:nvSpPr>
        <p:spPr>
          <a:xfrm>
            <a:off x="8462520" y="285012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title" hasCustomPrompt="1"/>
          </p:nvPr>
        </p:nvSpPr>
        <p:spPr>
          <a:xfrm>
            <a:off x="8462520" y="44388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title" hasCustomPrompt="1"/>
          </p:nvPr>
        </p:nvSpPr>
        <p:spPr>
          <a:xfrm>
            <a:off x="8462520" y="140616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title" hasCustomPrompt="1"/>
          </p:nvPr>
        </p:nvSpPr>
        <p:spPr>
          <a:xfrm>
            <a:off x="8462520" y="333144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title" hasCustomPrompt="1"/>
          </p:nvPr>
        </p:nvSpPr>
        <p:spPr>
          <a:xfrm>
            <a:off x="8462520" y="381276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132;p14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31" name="Google Shape;133;p14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2" name="Google Shape;134;p14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33" name="Google Shape;135;p14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136;p14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137;p14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6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863280"/>
            <a:ext cx="5562360" cy="156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141;p15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39" name="Google Shape;142;p15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0" name="Google Shape;143;p15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41" name="Google Shape;144;p15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145;p15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" name="Google Shape;146;p15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4" name="PlaceHolder 1"/>
          <p:cNvSpPr>
            <a:spLocks noGrp="1"/>
          </p:cNvSpPr>
          <p:nvPr>
            <p:ph type="title" hasCustomPrompt="1"/>
          </p:nvPr>
        </p:nvSpPr>
        <p:spPr>
          <a:xfrm>
            <a:off x="223920" y="3359160"/>
            <a:ext cx="6265440" cy="65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 hasCustomPrompt="1"/>
          </p:nvPr>
        </p:nvSpPr>
        <p:spPr>
          <a:xfrm>
            <a:off x="228600" y="632880"/>
            <a:ext cx="7299360" cy="264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151;p16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47" name="Google Shape;152;p16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8" name="Google Shape;153;p16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49" name="Google Shape;154;p16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155;p16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156;p16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2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4339080"/>
            <a:ext cx="8686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159;p17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54" name="Google Shape;160;p17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5" name="Google Shape;161;p17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56" name="Google Shape;162;p17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163;p17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" name="Google Shape;164;p17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9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167;p18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61" name="Google Shape;168;p18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2" name="Google Shape;169;p18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63" name="Google Shape;170;p18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171;p18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172;p18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6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3529440"/>
            <a:ext cx="8686800" cy="138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178;p19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68" name="Google Shape;179;p19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9" name="Google Shape;180;p19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70" name="Google Shape;181;p19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" name="Google Shape;182;p19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183;p19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73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8686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198;p20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75" name="Google Shape;199;p20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6" name="Google Shape;200;p20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77" name="Google Shape;201;p20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202;p20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" name="Google Shape;203;p20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0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434268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title" hasCustomPrompt="1"/>
          </p:nvPr>
        </p:nvSpPr>
        <p:spPr>
          <a:xfrm>
            <a:off x="228600" y="829080"/>
            <a:ext cx="23994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2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title" hasCustomPrompt="1"/>
          </p:nvPr>
        </p:nvSpPr>
        <p:spPr>
          <a:xfrm>
            <a:off x="228600" y="3313440"/>
            <a:ext cx="23994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accent1"/>
                </a:solidFill>
                <a:effectLst/>
                <a:uFillTx/>
                <a:latin typeface="Space Grotesk Medium"/>
                <a:ea typeface="Space Grotesk Medium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title" hasCustomPrompt="1"/>
          </p:nvPr>
        </p:nvSpPr>
        <p:spPr>
          <a:xfrm>
            <a:off x="228600" y="2071080"/>
            <a:ext cx="23994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accent1"/>
                </a:solidFill>
                <a:effectLst/>
                <a:uFillTx/>
                <a:latin typeface="Space Grotesk Medium"/>
                <a:ea typeface="Space Grotesk Medium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 hasCustomPrompt="1"/>
          </p:nvPr>
        </p:nvSpPr>
        <p:spPr>
          <a:xfrm>
            <a:off x="3741480" y="632880"/>
            <a:ext cx="5173560" cy="362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19;p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86" name="Google Shape;20;p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7" name="Google Shape;21;p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88" name="Google Shape;22;p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23;p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24;p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91" name="PlaceHolder 1"/>
          <p:cNvSpPr>
            <a:spLocks noGrp="1"/>
          </p:cNvSpPr>
          <p:nvPr>
            <p:ph type="title" hasCustomPrompt="1"/>
          </p:nvPr>
        </p:nvSpPr>
        <p:spPr>
          <a:xfrm>
            <a:off x="3952080" y="2882880"/>
            <a:ext cx="4962960" cy="203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title" hasCustomPrompt="1"/>
          </p:nvPr>
        </p:nvSpPr>
        <p:spPr>
          <a:xfrm>
            <a:off x="7647120" y="1546200"/>
            <a:ext cx="1267920" cy="1107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 hasCustomPrompt="1"/>
          </p:nvPr>
        </p:nvSpPr>
        <p:spPr>
          <a:xfrm>
            <a:off x="228600" y="1006920"/>
            <a:ext cx="2573640" cy="390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213;p21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95" name="Google Shape;214;p21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6" name="Google Shape;215;p21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97" name="Google Shape;216;p21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217;p21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218;p21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00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513880"/>
            <a:ext cx="3550320" cy="240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01" name="Google Shape;221;p21"/>
          <p:cNvSpPr/>
          <p:nvPr/>
        </p:nvSpPr>
        <p:spPr>
          <a:xfrm>
            <a:off x="4400280" y="3978360"/>
            <a:ext cx="444780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CREDITS: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This presentation template was created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2"/>
              </a:rPr>
              <a:t>Slidesgo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and includes icons, infographics &amp; images by </a:t>
            </a:r>
            <a:r>
              <a:rPr lang="en-GB" sz="10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3"/>
              </a:rPr>
              <a:t>Freepik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223;p22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03" name="Google Shape;224;p22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4" name="Google Shape;225;p22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05" name="Google Shape;226;p22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227;p22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228;p22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230;p2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09" name="Google Shape;231;p2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0" name="Google Shape;232;p2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11" name="Google Shape;233;p2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234;p2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235;p2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29;p4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15" name="Google Shape;30;p4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6" name="Google Shape;31;p4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17" name="Google Shape;32;p4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" name="Google Shape;33;p4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" name="Google Shape;34;p4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0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21" name="PlaceHolder 2"/>
          <p:cNvSpPr>
            <a:spLocks noGrp="1"/>
          </p:cNvSpPr>
          <p:nvPr>
            <p:ph type="body" hasCustomPrompt="1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38;p5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23" name="Google Shape;39;p5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4" name="Google Shape;40;p5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25" name="Google Shape;41;p5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42;p5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43;p5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8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29" name="PlaceHolder 2"/>
          <p:cNvSpPr>
            <a:spLocks noGrp="1"/>
          </p:cNvSpPr>
          <p:nvPr>
            <p:ph type="body" hasCustomPrompt="1"/>
          </p:nvPr>
        </p:nvSpPr>
        <p:spPr>
          <a:xfrm>
            <a:off x="5319720" y="1351080"/>
            <a:ext cx="3595320" cy="356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51;p6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31" name="Google Shape;52;p6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2" name="Google Shape;53;p6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33" name="Google Shape;54;p6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55;p6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56;p6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36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59;p7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38" name="Google Shape;60;p7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9" name="Google Shape;61;p7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40" name="Google Shape;62;p7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63;p7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64;p7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3" name="PlaceHolder 1"/>
          <p:cNvSpPr>
            <a:spLocks noGrp="1"/>
          </p:cNvSpPr>
          <p:nvPr>
            <p:ph type="title" hasCustomPrompt="1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44" name="PlaceHolder 2"/>
          <p:cNvSpPr>
            <a:spLocks noGrp="1"/>
          </p:cNvSpPr>
          <p:nvPr>
            <p:ph type="body" hasCustomPrompt="1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body" hasCustomPrompt="1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69;p8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47" name="Google Shape;70;p8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8" name="Google Shape;71;p8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49" name="Google Shape;72;p8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" name="Google Shape;73;p8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" name="Google Shape;74;p8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52" name="PlaceHolder 1"/>
          <p:cNvSpPr>
            <a:spLocks noGrp="1"/>
          </p:cNvSpPr>
          <p:nvPr>
            <p:ph type="title" hasCustomPrompt="1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77;p9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54" name="Google Shape;78;p9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5" name="Google Shape;79;p9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56" name="Google Shape;80;p9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" name="Google Shape;81;p9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82;p9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59" name="PlaceHolder 1"/>
          <p:cNvSpPr>
            <a:spLocks noGrp="1"/>
          </p:cNvSpPr>
          <p:nvPr>
            <p:ph type="title" hasCustomPrompt="1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  <p:sp>
        <p:nvSpPr>
          <p:cNvPr id="161" name="PlaceHolder 2"/>
          <p:cNvSpPr>
            <a:spLocks noGrp="1"/>
          </p:cNvSpPr>
          <p:nvPr>
            <p:ph type="title" hasCustomPrompt="1"/>
          </p:nvPr>
        </p:nvSpPr>
        <p:spPr>
          <a:xfrm>
            <a:off x="228600" y="4176000"/>
            <a:ext cx="2657520" cy="738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41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 hasCustomPrompt="1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244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 hasCustomPrompt="1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title" hasCustomPrompt="1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10" Type="http://schemas.openxmlformats.org/officeDocument/2006/relationships/image" Target="../media/image3.jpeg"/><Relationship Id="rId4" Type="http://schemas.openxmlformats.org/officeDocument/2006/relationships/tags" Target="../tags/tag8.xml"/><Relationship Id="rId9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0.jpeg"/><Relationship Id="rId4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1.jpeg"/><Relationship Id="rId4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13.jpeg"/><Relationship Id="rId4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192" y="639867"/>
            <a:ext cx="6682563" cy="3953397"/>
          </a:xfrm>
        </p:spPr>
        <p:txBody>
          <a:bodyPr/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Management System</a:t>
            </a: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Data Structure &amp; Algorithm</a:t>
            </a:r>
            <a:b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Sohail-2024-uobsac-1362</a:t>
            </a:r>
            <a:b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Wilayat Ali-2024-uobsac-1407</a:t>
            </a:r>
            <a:b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Waqar Ahmed-2024-uobsac-1367</a:t>
            </a:r>
            <a:b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Shabbir Hussain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-2024-uobsac-1407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41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228600" y="866880"/>
            <a:ext cx="55623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1" u="none" strike="noStrike" dirty="0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195580" y="2042795"/>
            <a:ext cx="5562600" cy="2318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2400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A system to manage hospital patients efficiently.</a:t>
            </a:r>
            <a:endParaRPr sz="2400" b="1" dirty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 Digitizes patient registration, appointments, and billing.</a:t>
            </a:r>
            <a:endParaRPr sz="2400" dirty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 Improves accuracy and saves time for hospital staff.</a:t>
            </a:r>
            <a:endParaRPr lang="en-US" sz="2400" b="0" u="none" strike="noStrike" dirty="0">
              <a:solidFill>
                <a:schemeClr val="tx1"/>
              </a:solidFill>
              <a:effectLst/>
              <a:uFillTx/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cxnSp>
        <p:nvCxnSpPr>
          <p:cNvPr id="178" name="Google Shape;360;p33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170" name="Google Shape;254;p28"/>
          <p:cNvPicPr/>
          <p:nvPr/>
        </p:nvPicPr>
        <p:blipFill>
          <a:blip r:embed="rId2"/>
          <a:srcRect l="1858" r="1858"/>
          <a:stretch>
            <a:fillRect/>
          </a:stretch>
        </p:blipFill>
        <p:spPr>
          <a:xfrm>
            <a:off x="5940425" y="628015"/>
            <a:ext cx="2954020" cy="426847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345;p32"/>
          <p:cNvPicPr/>
          <p:nvPr/>
        </p:nvPicPr>
        <p:blipFill>
          <a:blip r:embed="rId6"/>
          <a:srcRect l="1858" r="1858"/>
          <a:stretch>
            <a:fillRect/>
          </a:stretch>
        </p:blipFill>
        <p:spPr>
          <a:xfrm>
            <a:off x="228600" y="572770"/>
            <a:ext cx="2980690" cy="43421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3275965" y="483870"/>
            <a:ext cx="4962525" cy="125603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/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kumimoji="0" lang="en-US" sz="2800" b="1" i="0" u="none" strike="noStrike" kern="0" cap="none" spc="0" normalizeH="0" baseline="0" noProof="1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  <a:sym typeface="+mn-ea"/>
              </a:rPr>
              <a:t>project Overview</a:t>
            </a:r>
            <a:endParaRPr kumimoji="0" lang="en-US" sz="2800" b="1" i="0" u="none" strike="noStrike" kern="0" cap="none" spc="0" normalizeH="0" baseline="0" noProof="1">
              <a:solidFill>
                <a:srgbClr val="00E8FF"/>
              </a:solidFill>
              <a:effectLst/>
              <a:uFillTx/>
              <a:latin typeface="Times New Roman" panose="02020603050405020304" charset="0"/>
              <a:ea typeface="Space Grotesk"/>
              <a:cs typeface="Times New Roman" panose="02020603050405020304" charset="0"/>
              <a:sym typeface="+mn-ea"/>
            </a:endParaRPr>
          </a:p>
        </p:txBody>
      </p:sp>
      <p:cxnSp>
        <p:nvCxnSpPr>
          <p:cNvPr id="186" name="Google Shape;348;p32"/>
          <p:cNvCxnSpPr/>
          <p:nvPr/>
        </p:nvCxnSpPr>
        <p:spPr>
          <a:xfrm>
            <a:off x="-36195" y="19558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91" name="Google Shape;353;p32"/>
          <p:cNvSpPr/>
          <p:nvPr/>
        </p:nvSpPr>
        <p:spPr>
          <a:xfrm rot="16200000">
            <a:off x="1629000" y="223884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6370" y="1779905"/>
            <a:ext cx="4963160" cy="15144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Digital management of patient </a:t>
            </a:r>
            <a:r>
              <a:rPr lang="en-US" dirty="0" smtClean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information Handles </a:t>
            </a: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registration, appointments, and </a:t>
            </a:r>
            <a:r>
              <a:rPr lang="en-US" dirty="0" smtClean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records Centralized </a:t>
            </a:r>
            <a:r>
              <a:rPr lang="en-US" dirty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platform for all </a:t>
            </a:r>
            <a:r>
              <a:rPr lang="en-US" dirty="0" smtClean="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departments.</a:t>
            </a:r>
            <a:endParaRPr lang="en-US" dirty="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+mn-ea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513138" y="2152015"/>
            <a:ext cx="356870" cy="340360"/>
            <a:chOff x="5502" y="3389"/>
            <a:chExt cx="562" cy="536"/>
          </a:xfrm>
        </p:grpSpPr>
        <p:sp>
          <p:nvSpPr>
            <p:cNvPr id="205" name="Google Shape;205;p22"/>
            <p:cNvSpPr/>
            <p:nvPr>
              <p:custDataLst>
                <p:tags r:id="rId3"/>
              </p:custDataLst>
            </p:nvPr>
          </p:nvSpPr>
          <p:spPr>
            <a:xfrm>
              <a:off x="5502" y="3389"/>
              <a:ext cx="563" cy="537"/>
            </a:xfrm>
            <a:prstGeom prst="roundRect">
              <a:avLst>
                <a:gd name="adj" fmla="val 18669"/>
              </a:avLst>
            </a:prstGeom>
            <a:solidFill>
              <a:srgbClr val="101620"/>
            </a:solidFill>
            <a:ln w="22850" cap="flat" cmpd="sng">
              <a:solidFill>
                <a:srgbClr val="002A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06" name="Google Shape;206;p22"/>
            <p:cNvSpPr/>
            <p:nvPr>
              <p:custDataLst>
                <p:tags r:id="rId4"/>
              </p:custDataLst>
            </p:nvPr>
          </p:nvSpPr>
          <p:spPr>
            <a:xfrm>
              <a:off x="5563" y="3412"/>
              <a:ext cx="442" cy="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r>
                <a:rPr lang="en-US" sz="2000" b="1" i="0" u="none" strike="noStrike" cap="none">
                  <a:solidFill>
                    <a:srgbClr val="EBEDF0"/>
                  </a:solidFill>
                  <a:latin typeface="Times New Roman" panose="02020603050405020304" charset="0"/>
                  <a:ea typeface="Geist"/>
                  <a:cs typeface="Times New Roman" panose="02020603050405020304" charset="0"/>
                  <a:sym typeface="Geist"/>
                </a:rPr>
                <a:t>1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13138" y="3566160"/>
            <a:ext cx="356870" cy="340360"/>
            <a:chOff x="5502" y="3389"/>
            <a:chExt cx="562" cy="536"/>
          </a:xfrm>
        </p:grpSpPr>
        <p:sp>
          <p:nvSpPr>
            <p:cNvPr id="12" name="Google Shape;205;p22"/>
            <p:cNvSpPr/>
            <p:nvPr>
              <p:custDataLst>
                <p:tags r:id="rId1"/>
              </p:custDataLst>
            </p:nvPr>
          </p:nvSpPr>
          <p:spPr>
            <a:xfrm>
              <a:off x="5502" y="3389"/>
              <a:ext cx="563" cy="537"/>
            </a:xfrm>
            <a:prstGeom prst="roundRect">
              <a:avLst>
                <a:gd name="adj" fmla="val 18669"/>
              </a:avLst>
            </a:prstGeom>
            <a:solidFill>
              <a:srgbClr val="101620"/>
            </a:solidFill>
            <a:ln w="22850" cap="flat" cmpd="sng">
              <a:solidFill>
                <a:srgbClr val="002A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3" name="Google Shape;206;p22"/>
            <p:cNvSpPr/>
            <p:nvPr>
              <p:custDataLst>
                <p:tags r:id="rId2"/>
              </p:custDataLst>
            </p:nvPr>
          </p:nvSpPr>
          <p:spPr>
            <a:xfrm>
              <a:off x="5563" y="3412"/>
              <a:ext cx="442" cy="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r>
                <a:rPr lang="en-US" sz="2000" b="1" dirty="0" smtClean="0">
                  <a:solidFill>
                    <a:srgbClr val="EBEDF0"/>
                  </a:solidFill>
                  <a:latin typeface="Times New Roman" panose="02020603050405020304" charset="0"/>
                  <a:ea typeface="Geist"/>
                  <a:cs typeface="Times New Roman" panose="02020603050405020304" charset="0"/>
                  <a:sym typeface="Geist"/>
                </a:rPr>
                <a:t>2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endParaRPr lang="en-US" sz="2000" b="1" i="0" u="none" strike="noStrike" cap="none" dirty="0">
                <a:solidFill>
                  <a:srgbClr val="EBEDF0"/>
                </a:solidFill>
                <a:latin typeface="Times New Roman" panose="02020603050405020304" charset="0"/>
                <a:ea typeface="Geist"/>
                <a:cs typeface="Times New Roman" panose="02020603050405020304" charset="0"/>
                <a:sym typeface="Geist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4017645" y="3422650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Reduces human error and boosts coordination.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3275965" y="483870"/>
            <a:ext cx="4962525" cy="125603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kumimoji="0" lang="en-US" sz="2800" b="1" i="0" u="none" strike="noStrike" kern="0" cap="none" spc="0" normalizeH="0" baseline="0" noProof="1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  <a:sym typeface="+mn-ea"/>
              </a:rPr>
              <a:t>Important and Objective</a:t>
            </a:r>
            <a:endParaRPr kumimoji="0" lang="en-US" sz="2800" b="1" i="0" u="none" strike="noStrike" kern="0" cap="none" spc="0" normalizeH="0" baseline="0" noProof="1">
              <a:solidFill>
                <a:srgbClr val="00E8FF"/>
              </a:solidFill>
              <a:effectLst/>
              <a:uFillTx/>
              <a:latin typeface="Times New Roman" panose="02020603050405020304" charset="0"/>
              <a:ea typeface="Space Grotesk"/>
              <a:cs typeface="Times New Roman" panose="02020603050405020304" charset="0"/>
              <a:sym typeface="+mn-ea"/>
            </a:endParaRPr>
          </a:p>
        </p:txBody>
      </p:sp>
      <p:cxnSp>
        <p:nvCxnSpPr>
          <p:cNvPr id="186" name="Google Shape;348;p32"/>
          <p:cNvCxnSpPr/>
          <p:nvPr/>
        </p:nvCxnSpPr>
        <p:spPr>
          <a:xfrm>
            <a:off x="-36195" y="19558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91" name="Google Shape;353;p32"/>
          <p:cNvSpPr/>
          <p:nvPr/>
        </p:nvSpPr>
        <p:spPr>
          <a:xfrm rot="16200000">
            <a:off x="1629000" y="223884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1910" y="2211705"/>
            <a:ext cx="4963160" cy="218567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  Improve hospital efficiency and </a:t>
            </a: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accuracy.</a:t>
            </a: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</a:t>
            </a: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Minimize paperwork. </a:t>
            </a:r>
            <a:b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</a:b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</a:t>
            </a: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Provide </a:t>
            </a:r>
            <a:r>
              <a:rPr lang="en-US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quick access to patient </a:t>
            </a: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data.</a:t>
            </a:r>
            <a:b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</a:b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</a:t>
            </a: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Secure </a:t>
            </a:r>
            <a:r>
              <a:rPr lang="en-US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and compliant with healthcare </a:t>
            </a:r>
            <a:r>
              <a:rPr lang="en-US" dirty="0" smtClean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standards.</a:t>
            </a:r>
            <a:r>
              <a:rPr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US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+mn-ea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513138" y="2152015"/>
            <a:ext cx="356870" cy="340360"/>
            <a:chOff x="5502" y="3389"/>
            <a:chExt cx="562" cy="536"/>
          </a:xfrm>
        </p:grpSpPr>
        <p:sp>
          <p:nvSpPr>
            <p:cNvPr id="205" name="Google Shape;205;p22"/>
            <p:cNvSpPr/>
            <p:nvPr>
              <p:custDataLst>
                <p:tags r:id="rId7"/>
              </p:custDataLst>
            </p:nvPr>
          </p:nvSpPr>
          <p:spPr>
            <a:xfrm>
              <a:off x="5502" y="3389"/>
              <a:ext cx="563" cy="537"/>
            </a:xfrm>
            <a:prstGeom prst="roundRect">
              <a:avLst>
                <a:gd name="adj" fmla="val 18669"/>
              </a:avLst>
            </a:prstGeom>
            <a:solidFill>
              <a:srgbClr val="101620"/>
            </a:solidFill>
            <a:ln w="22850" cap="flat" cmpd="sng">
              <a:solidFill>
                <a:srgbClr val="002A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06" name="Google Shape;206;p22"/>
            <p:cNvSpPr/>
            <p:nvPr>
              <p:custDataLst>
                <p:tags r:id="rId8"/>
              </p:custDataLst>
            </p:nvPr>
          </p:nvSpPr>
          <p:spPr>
            <a:xfrm>
              <a:off x="5563" y="3412"/>
              <a:ext cx="442" cy="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r>
                <a:rPr lang="en-US" sz="2000" b="1" i="0" u="none" strike="noStrike" cap="none">
                  <a:solidFill>
                    <a:srgbClr val="EBEDF0"/>
                  </a:solidFill>
                  <a:latin typeface="Times New Roman" panose="02020603050405020304" charset="0"/>
                  <a:ea typeface="Geist"/>
                  <a:cs typeface="Times New Roman" panose="02020603050405020304" charset="0"/>
                  <a:sym typeface="Geist"/>
                </a:rPr>
                <a:t>1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513138" y="2715895"/>
            <a:ext cx="356870" cy="340360"/>
            <a:chOff x="5502" y="3389"/>
            <a:chExt cx="562" cy="536"/>
          </a:xfrm>
        </p:grpSpPr>
        <p:sp>
          <p:nvSpPr>
            <p:cNvPr id="6" name="Google Shape;205;p22"/>
            <p:cNvSpPr/>
            <p:nvPr>
              <p:custDataLst>
                <p:tags r:id="rId5"/>
              </p:custDataLst>
            </p:nvPr>
          </p:nvSpPr>
          <p:spPr>
            <a:xfrm>
              <a:off x="5502" y="3389"/>
              <a:ext cx="563" cy="537"/>
            </a:xfrm>
            <a:prstGeom prst="roundRect">
              <a:avLst>
                <a:gd name="adj" fmla="val 18669"/>
              </a:avLst>
            </a:prstGeom>
            <a:solidFill>
              <a:srgbClr val="101620"/>
            </a:solidFill>
            <a:ln w="22850" cap="flat" cmpd="sng">
              <a:solidFill>
                <a:srgbClr val="002A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7" name="Google Shape;206;p22"/>
            <p:cNvSpPr/>
            <p:nvPr>
              <p:custDataLst>
                <p:tags r:id="rId6"/>
              </p:custDataLst>
            </p:nvPr>
          </p:nvSpPr>
          <p:spPr>
            <a:xfrm>
              <a:off x="5563" y="3412"/>
              <a:ext cx="442" cy="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r>
                <a:rPr lang="en-US" sz="2000" b="1" i="0" u="none" strike="noStrike" cap="none">
                  <a:solidFill>
                    <a:srgbClr val="EBEDF0"/>
                  </a:solidFill>
                  <a:latin typeface="Times New Roman" panose="02020603050405020304" charset="0"/>
                  <a:ea typeface="Geist"/>
                  <a:cs typeface="Times New Roman" panose="02020603050405020304" charset="0"/>
                  <a:sym typeface="Geist"/>
                </a:rPr>
                <a:t>2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513138" y="3277235"/>
            <a:ext cx="356870" cy="340360"/>
            <a:chOff x="5502" y="3389"/>
            <a:chExt cx="562" cy="536"/>
          </a:xfrm>
        </p:grpSpPr>
        <p:sp>
          <p:nvSpPr>
            <p:cNvPr id="9" name="Google Shape;205;p22"/>
            <p:cNvSpPr/>
            <p:nvPr>
              <p:custDataLst>
                <p:tags r:id="rId3"/>
              </p:custDataLst>
            </p:nvPr>
          </p:nvSpPr>
          <p:spPr>
            <a:xfrm>
              <a:off x="5502" y="3389"/>
              <a:ext cx="563" cy="537"/>
            </a:xfrm>
            <a:prstGeom prst="roundRect">
              <a:avLst>
                <a:gd name="adj" fmla="val 18669"/>
              </a:avLst>
            </a:prstGeom>
            <a:solidFill>
              <a:srgbClr val="101620"/>
            </a:solidFill>
            <a:ln w="22850" cap="flat" cmpd="sng">
              <a:solidFill>
                <a:srgbClr val="002A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0" name="Google Shape;206;p22"/>
            <p:cNvSpPr/>
            <p:nvPr>
              <p:custDataLst>
                <p:tags r:id="rId4"/>
              </p:custDataLst>
            </p:nvPr>
          </p:nvSpPr>
          <p:spPr>
            <a:xfrm>
              <a:off x="5563" y="3412"/>
              <a:ext cx="442" cy="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r>
                <a:rPr lang="en-US" sz="2000" b="1" i="0" u="none" strike="noStrike" cap="none">
                  <a:solidFill>
                    <a:srgbClr val="EBEDF0"/>
                  </a:solidFill>
                  <a:latin typeface="Times New Roman" panose="02020603050405020304" charset="0"/>
                  <a:ea typeface="Geist"/>
                  <a:cs typeface="Times New Roman" panose="02020603050405020304" charset="0"/>
                  <a:sym typeface="Geist"/>
                </a:rPr>
                <a:t>3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13138" y="3853180"/>
            <a:ext cx="356870" cy="340360"/>
            <a:chOff x="5502" y="3389"/>
            <a:chExt cx="562" cy="536"/>
          </a:xfrm>
        </p:grpSpPr>
        <p:sp>
          <p:nvSpPr>
            <p:cNvPr id="12" name="Google Shape;205;p22"/>
            <p:cNvSpPr/>
            <p:nvPr>
              <p:custDataLst>
                <p:tags r:id="rId1"/>
              </p:custDataLst>
            </p:nvPr>
          </p:nvSpPr>
          <p:spPr>
            <a:xfrm>
              <a:off x="5502" y="3389"/>
              <a:ext cx="563" cy="537"/>
            </a:xfrm>
            <a:prstGeom prst="roundRect">
              <a:avLst>
                <a:gd name="adj" fmla="val 18669"/>
              </a:avLst>
            </a:prstGeom>
            <a:solidFill>
              <a:srgbClr val="101620"/>
            </a:solidFill>
            <a:ln w="22850" cap="flat" cmpd="sng">
              <a:solidFill>
                <a:srgbClr val="002A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13" name="Google Shape;206;p22"/>
            <p:cNvSpPr/>
            <p:nvPr>
              <p:custDataLst>
                <p:tags r:id="rId2"/>
              </p:custDataLst>
            </p:nvPr>
          </p:nvSpPr>
          <p:spPr>
            <a:xfrm>
              <a:off x="5563" y="3412"/>
              <a:ext cx="442" cy="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r>
                <a:rPr lang="en-US" sz="2000" b="1" i="0" u="none" strike="noStrike" cap="none">
                  <a:solidFill>
                    <a:srgbClr val="EBEDF0"/>
                  </a:solidFill>
                  <a:latin typeface="Times New Roman" panose="02020603050405020304" charset="0"/>
                  <a:ea typeface="Geist"/>
                  <a:cs typeface="Times New Roman" panose="02020603050405020304" charset="0"/>
                  <a:sym typeface="Geist"/>
                </a:rPr>
                <a:t>4</a:t>
              </a:r>
            </a:p>
          </p:txBody>
        </p:sp>
      </p:grpSp>
      <p:pic>
        <p:nvPicPr>
          <p:cNvPr id="3" name="Picture 2"/>
          <p:cNvPicPr/>
          <p:nvPr/>
        </p:nvPicPr>
        <p:blipFill>
          <a:blip r:embed="rId10"/>
          <a:stretch>
            <a:fillRect/>
          </a:stretch>
        </p:blipFill>
        <p:spPr>
          <a:xfrm>
            <a:off x="12700" y="253365"/>
            <a:ext cx="3098165" cy="4882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35725" y="3076015"/>
            <a:ext cx="869580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kumimoji="0" lang="en-US" sz="3200" b="1" i="0" u="none" strike="noStrike" kern="0" cap="none" spc="0" normalizeH="0" baseline="0" noProof="1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  <a:sym typeface="+mn-ea"/>
              </a:rPr>
              <a:t>Technologies Used</a:t>
            </a:r>
            <a:endParaRPr lang="en-US" sz="2400" b="1" u="none" strike="noStrike" dirty="0">
              <a:solidFill>
                <a:schemeClr val="tx2"/>
              </a:solidFill>
              <a:effectLst/>
              <a:uFillTx/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pic>
        <p:nvPicPr>
          <p:cNvPr id="193" name="Google Shape;337;p31"/>
          <p:cNvPicPr/>
          <p:nvPr/>
        </p:nvPicPr>
        <p:blipFill>
          <a:blip r:embed="rId2"/>
          <a:srcRect t="18273" b="18273"/>
          <a:stretch>
            <a:fillRect/>
          </a:stretch>
        </p:blipFill>
        <p:spPr>
          <a:xfrm>
            <a:off x="228600" y="345860"/>
            <a:ext cx="7299360" cy="2645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5" name="Google Shape;339;p31"/>
          <p:cNvCxnSpPr/>
          <p:nvPr/>
        </p:nvCxnSpPr>
        <p:spPr>
          <a:xfrm>
            <a:off x="35560" y="372247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96" name="Google Shape;340;p31"/>
          <p:cNvSpPr/>
          <p:nvPr/>
        </p:nvSpPr>
        <p:spPr>
          <a:xfrm>
            <a:off x="4952880" y="45720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800" b="1" u="none" strike="noStrike">
                <a:solidFill>
                  <a:schemeClr val="dk1"/>
                </a:solidFill>
                <a:effectLst/>
                <a:uFillTx/>
                <a:latin typeface="Arial" panose="020B0604020202020204"/>
              </a:rPr>
              <a:t>&lt;/innovation_pipeline&gt;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122238" y="3807460"/>
            <a:ext cx="734060" cy="4603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71550" y="38677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Python (Flask Framework)</a:t>
            </a:r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167958" y="4371975"/>
            <a:ext cx="642620" cy="7315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71550" y="4380865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HTML, CSS, Bootstrap for Frontend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4283710" y="3823970"/>
            <a:ext cx="1097915" cy="59753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652770" y="379666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Data Structures: Linked List, Queue, Stack, Tree</a:t>
            </a:r>
            <a:endParaRPr lang="en-US"/>
          </a:p>
        </p:txBody>
      </p:sp>
      <p:pic>
        <p:nvPicPr>
          <p:cNvPr id="9" name="Picture 8"/>
          <p:cNvPicPr/>
          <p:nvPr/>
        </p:nvPicPr>
        <p:blipFill>
          <a:blip r:embed="rId6"/>
          <a:stretch>
            <a:fillRect/>
          </a:stretch>
        </p:blipFill>
        <p:spPr>
          <a:xfrm>
            <a:off x="4500245" y="4516120"/>
            <a:ext cx="558165" cy="54292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723890" y="465772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CSV files for data storage</a:t>
            </a: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215265" y="866880"/>
            <a:ext cx="55623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/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sz="3200" dirty="0">
                <a:solidFill>
                  <a:schemeClr val="tx2"/>
                </a:solidFill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+mn-ea"/>
              </a:rPr>
              <a:t>System Architecture</a:t>
            </a:r>
            <a:endParaRPr lang="en-US" sz="3200" b="1" u="none" strike="noStrike" dirty="0">
              <a:solidFill>
                <a:schemeClr val="tx2"/>
              </a:solidFill>
              <a:effectLst/>
              <a:uFillTx/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99" name="Google Shape;360;p33"/>
          <p:cNvCxnSpPr/>
          <p:nvPr/>
        </p:nvCxnSpPr>
        <p:spPr>
          <a:xfrm>
            <a:off x="0" y="241935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3" name="Picture 2"/>
          <p:cNvPicPr/>
          <p:nvPr/>
        </p:nvPicPr>
        <p:blipFill>
          <a:blip r:embed="rId6"/>
          <a:stretch>
            <a:fillRect/>
          </a:stretch>
        </p:blipFill>
        <p:spPr>
          <a:xfrm>
            <a:off x="4644390" y="0"/>
            <a:ext cx="4429125" cy="586676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276543" y="1825625"/>
            <a:ext cx="356870" cy="340360"/>
            <a:chOff x="5502" y="3389"/>
            <a:chExt cx="562" cy="536"/>
          </a:xfrm>
        </p:grpSpPr>
        <p:sp>
          <p:nvSpPr>
            <p:cNvPr id="205" name="Google Shape;205;p22"/>
            <p:cNvSpPr/>
            <p:nvPr>
              <p:custDataLst>
                <p:tags r:id="rId3"/>
              </p:custDataLst>
            </p:nvPr>
          </p:nvSpPr>
          <p:spPr>
            <a:xfrm>
              <a:off x="5502" y="3389"/>
              <a:ext cx="563" cy="537"/>
            </a:xfrm>
            <a:prstGeom prst="roundRect">
              <a:avLst>
                <a:gd name="adj" fmla="val 18669"/>
              </a:avLst>
            </a:prstGeom>
            <a:solidFill>
              <a:srgbClr val="101620"/>
            </a:solidFill>
            <a:ln w="22850" cap="flat" cmpd="sng">
              <a:solidFill>
                <a:srgbClr val="002A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06" name="Google Shape;206;p22"/>
            <p:cNvSpPr/>
            <p:nvPr>
              <p:custDataLst>
                <p:tags r:id="rId4"/>
              </p:custDataLst>
            </p:nvPr>
          </p:nvSpPr>
          <p:spPr>
            <a:xfrm>
              <a:off x="5563" y="3412"/>
              <a:ext cx="442" cy="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r>
                <a:rPr lang="en-US" sz="2000" b="1" i="0" u="none" strike="noStrike" cap="none">
                  <a:solidFill>
                    <a:srgbClr val="EBEDF0"/>
                  </a:solidFill>
                  <a:latin typeface="Times New Roman" panose="02020603050405020304" charset="0"/>
                  <a:ea typeface="Geist"/>
                  <a:cs typeface="Times New Roman" panose="02020603050405020304" charset="0"/>
                  <a:sym typeface="Geist"/>
                </a:rPr>
                <a:t>1</a:t>
              </a: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971550" y="1726565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User → Flask Web App → Data Structures → CSV Storage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76543" y="2957195"/>
            <a:ext cx="356870" cy="340360"/>
            <a:chOff x="5502" y="3389"/>
            <a:chExt cx="562" cy="536"/>
          </a:xfrm>
        </p:grpSpPr>
        <p:sp>
          <p:nvSpPr>
            <p:cNvPr id="8" name="Google Shape;205;p22"/>
            <p:cNvSpPr/>
            <p:nvPr>
              <p:custDataLst>
                <p:tags r:id="rId1"/>
              </p:custDataLst>
            </p:nvPr>
          </p:nvSpPr>
          <p:spPr>
            <a:xfrm>
              <a:off x="5502" y="3389"/>
              <a:ext cx="563" cy="537"/>
            </a:xfrm>
            <a:prstGeom prst="roundRect">
              <a:avLst>
                <a:gd name="adj" fmla="val 18669"/>
              </a:avLst>
            </a:prstGeom>
            <a:solidFill>
              <a:srgbClr val="101620"/>
            </a:solidFill>
            <a:ln w="22850" cap="flat" cmpd="sng">
              <a:solidFill>
                <a:srgbClr val="002A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9" name="Google Shape;206;p22"/>
            <p:cNvSpPr/>
            <p:nvPr>
              <p:custDataLst>
                <p:tags r:id="rId2"/>
              </p:custDataLst>
            </p:nvPr>
          </p:nvSpPr>
          <p:spPr>
            <a:xfrm>
              <a:off x="5563" y="3412"/>
              <a:ext cx="442" cy="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350"/>
                <a:buFont typeface="Geist"/>
                <a:buNone/>
              </a:pPr>
              <a:r>
                <a:rPr lang="en-US" sz="2000" b="1" i="0" u="none" strike="noStrike" cap="none">
                  <a:solidFill>
                    <a:srgbClr val="EBEDF0"/>
                  </a:solidFill>
                  <a:latin typeface="Times New Roman" panose="02020603050405020304" charset="0"/>
                  <a:ea typeface="Geist"/>
                  <a:cs typeface="Times New Roman" panose="02020603050405020304" charset="0"/>
                  <a:sym typeface="Geist"/>
                </a:rPr>
                <a:t>1</a:t>
              </a:r>
            </a:p>
          </p:txBody>
        </p:sp>
      </p:grpSp>
      <p:sp>
        <p:nvSpPr>
          <p:cNvPr id="14" name="Text Box 13"/>
          <p:cNvSpPr txBox="1"/>
          <p:nvPr/>
        </p:nvSpPr>
        <p:spPr>
          <a:xfrm>
            <a:off x="6019165" y="-2184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043305" y="2884170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Follows MVC (Model-View-Controller) pattern.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30530" y="483870"/>
            <a:ext cx="5562600" cy="667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/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200" b="1" u="none" strike="noStrike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Features 1</a:t>
            </a:r>
          </a:p>
        </p:txBody>
      </p:sp>
      <p:cxnSp>
        <p:nvCxnSpPr>
          <p:cNvPr id="206" name="Google Shape;360;p33"/>
          <p:cNvCxnSpPr/>
          <p:nvPr/>
        </p:nvCxnSpPr>
        <p:spPr>
          <a:xfrm>
            <a:off x="35560" y="196215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1" name="Google Shape;77;p15"/>
          <p:cNvSpPr/>
          <p:nvPr>
            <p:custDataLst>
              <p:tags r:id="rId1"/>
            </p:custDataLst>
          </p:nvPr>
        </p:nvSpPr>
        <p:spPr>
          <a:xfrm>
            <a:off x="614680" y="2066925"/>
            <a:ext cx="2348230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Add new patient details (name, age, disease, doctor).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Google Shape;77;p15"/>
          <p:cNvSpPr/>
          <p:nvPr>
            <p:custDataLst>
              <p:tags r:id="rId2"/>
            </p:custDataLst>
          </p:nvPr>
        </p:nvSpPr>
        <p:spPr>
          <a:xfrm>
            <a:off x="3856355" y="2066925"/>
            <a:ext cx="2331085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Stored using Linked List and Tree.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Google Shape;77;p15"/>
          <p:cNvSpPr/>
          <p:nvPr>
            <p:custDataLst>
              <p:tags r:id="rId3"/>
            </p:custDataLst>
          </p:nvPr>
        </p:nvSpPr>
        <p:spPr>
          <a:xfrm>
            <a:off x="1437640" y="3723640"/>
            <a:ext cx="4250055" cy="763270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Input validation ensures data accuracy.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5605" y="1059815"/>
            <a:ext cx="4224655" cy="847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3600" dirty="0">
                <a:solidFill>
                  <a:srgbClr val="002A80"/>
                </a:solidFill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+mn-ea"/>
              </a:rPr>
              <a:t>Register Patient</a:t>
            </a:r>
            <a:endParaRPr sz="3600" dirty="0">
              <a:solidFill>
                <a:srgbClr val="002A80"/>
              </a:solidFill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</a:endParaRPr>
          </a:p>
          <a:p>
            <a:endParaRPr lang="en-US" sz="3600" dirty="0">
              <a:solidFill>
                <a:srgbClr val="002A80"/>
              </a:solidFill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6515100" y="197485"/>
            <a:ext cx="2593340" cy="4986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30530" y="483870"/>
            <a:ext cx="5562600" cy="667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/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200" b="1" u="none" strike="noStrike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Features 2</a:t>
            </a:r>
          </a:p>
        </p:txBody>
      </p:sp>
      <p:cxnSp>
        <p:nvCxnSpPr>
          <p:cNvPr id="206" name="Google Shape;360;p33"/>
          <p:cNvCxnSpPr/>
          <p:nvPr/>
        </p:nvCxnSpPr>
        <p:spPr>
          <a:xfrm>
            <a:off x="35560" y="196215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1" name="Google Shape;77;p15"/>
          <p:cNvSpPr/>
          <p:nvPr>
            <p:custDataLst>
              <p:tags r:id="rId1"/>
            </p:custDataLst>
          </p:nvPr>
        </p:nvSpPr>
        <p:spPr>
          <a:xfrm>
            <a:off x="614680" y="2066925"/>
            <a:ext cx="2348230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sym typeface="+mn-ea"/>
              </a:rPr>
              <a:t>Displays all registered patients from Linked List.</a:t>
            </a:r>
          </a:p>
        </p:txBody>
      </p:sp>
      <p:sp>
        <p:nvSpPr>
          <p:cNvPr id="12" name="Google Shape;77;p15"/>
          <p:cNvSpPr/>
          <p:nvPr>
            <p:custDataLst>
              <p:tags r:id="rId2"/>
            </p:custDataLst>
          </p:nvPr>
        </p:nvSpPr>
        <p:spPr>
          <a:xfrm>
            <a:off x="3856355" y="2066925"/>
            <a:ext cx="2331085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sym typeface="+mn-ea"/>
              </a:rPr>
              <a:t>Allows update and delete operations.</a:t>
            </a:r>
          </a:p>
        </p:txBody>
      </p:sp>
      <p:sp>
        <p:nvSpPr>
          <p:cNvPr id="13" name="Google Shape;77;p15"/>
          <p:cNvSpPr/>
          <p:nvPr>
            <p:custDataLst>
              <p:tags r:id="rId3"/>
            </p:custDataLst>
          </p:nvPr>
        </p:nvSpPr>
        <p:spPr>
          <a:xfrm>
            <a:off x="1437640" y="3723640"/>
            <a:ext cx="4250055" cy="763270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sym typeface="+mn-ea"/>
              </a:rPr>
              <a:t>User-friendly table layout.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95605" y="1059815"/>
            <a:ext cx="5423535" cy="847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dirty="0">
                <a:solidFill>
                  <a:srgbClr val="002A80"/>
                </a:solidFill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+mn-ea"/>
              </a:rPr>
              <a:t>View All Patient</a:t>
            </a:r>
            <a:endParaRPr lang="en-US" sz="3600" dirty="0">
              <a:solidFill>
                <a:srgbClr val="002A80"/>
              </a:solidFill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30530" y="483870"/>
            <a:ext cx="5562600" cy="667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/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200" b="1" u="none" strike="noStrike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Features  3</a:t>
            </a:r>
          </a:p>
        </p:txBody>
      </p:sp>
      <p:cxnSp>
        <p:nvCxnSpPr>
          <p:cNvPr id="206" name="Google Shape;360;p33"/>
          <p:cNvCxnSpPr/>
          <p:nvPr/>
        </p:nvCxnSpPr>
        <p:spPr>
          <a:xfrm>
            <a:off x="35560" y="196215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1" name="Google Shape;77;p15"/>
          <p:cNvSpPr/>
          <p:nvPr>
            <p:custDataLst>
              <p:tags r:id="rId1"/>
            </p:custDataLst>
          </p:nvPr>
        </p:nvSpPr>
        <p:spPr>
          <a:xfrm>
            <a:off x="614680" y="2066925"/>
            <a:ext cx="2348230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Uses Queue structure for appointments.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Google Shape;77;p15"/>
          <p:cNvSpPr/>
          <p:nvPr>
            <p:custDataLst>
              <p:tags r:id="rId2"/>
            </p:custDataLst>
          </p:nvPr>
        </p:nvSpPr>
        <p:spPr>
          <a:xfrm>
            <a:off x="3856355" y="2066925"/>
            <a:ext cx="2331085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'Next Appointment' serves (</a:t>
            </a:r>
            <a:r>
              <a:rPr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dequeues</a:t>
            </a: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) patient.</a:t>
            </a:r>
          </a:p>
        </p:txBody>
      </p:sp>
      <p:sp>
        <p:nvSpPr>
          <p:cNvPr id="13" name="Google Shape;77;p15"/>
          <p:cNvSpPr/>
          <p:nvPr>
            <p:custDataLst>
              <p:tags r:id="rId3"/>
            </p:custDataLst>
          </p:nvPr>
        </p:nvSpPr>
        <p:spPr>
          <a:xfrm>
            <a:off x="1437640" y="3723640"/>
            <a:ext cx="4250055" cy="763270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Ensures fair scheduling order.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5605" y="1059815"/>
            <a:ext cx="6023610" cy="847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dirty="0">
                <a:solidFill>
                  <a:srgbClr val="002A80"/>
                </a:solidFill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+mn-ea"/>
              </a:rPr>
              <a:t>Schedule Appointment</a:t>
            </a:r>
            <a:endParaRPr lang="en-US" sz="3600" dirty="0">
              <a:solidFill>
                <a:srgbClr val="002A80"/>
              </a:solidFill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5"/>
          <a:stretch>
            <a:fillRect/>
          </a:stretch>
        </p:blipFill>
        <p:spPr>
          <a:xfrm>
            <a:off x="6507480" y="197485"/>
            <a:ext cx="2636520" cy="4946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30530" y="483870"/>
            <a:ext cx="5562600" cy="667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/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200" b="1" u="none" strike="noStrike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Feature 4</a:t>
            </a:r>
          </a:p>
        </p:txBody>
      </p:sp>
      <p:cxnSp>
        <p:nvCxnSpPr>
          <p:cNvPr id="206" name="Google Shape;360;p33"/>
          <p:cNvCxnSpPr/>
          <p:nvPr/>
        </p:nvCxnSpPr>
        <p:spPr>
          <a:xfrm>
            <a:off x="35560" y="196215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1" name="Google Shape;77;p15"/>
          <p:cNvSpPr/>
          <p:nvPr>
            <p:custDataLst>
              <p:tags r:id="rId1"/>
            </p:custDataLst>
          </p:nvPr>
        </p:nvSpPr>
        <p:spPr>
          <a:xfrm>
            <a:off x="614680" y="2066925"/>
            <a:ext cx="2348230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Calculates total bill: base + tests + medicines.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Google Shape;77;p15"/>
          <p:cNvSpPr/>
          <p:nvPr>
            <p:custDataLst>
              <p:tags r:id="rId2"/>
            </p:custDataLst>
          </p:nvPr>
        </p:nvSpPr>
        <p:spPr>
          <a:xfrm>
            <a:off x="3856355" y="2066925"/>
            <a:ext cx="2331085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Flask instantly displays calculated bill.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Google Shape;77;p15"/>
          <p:cNvSpPr/>
          <p:nvPr>
            <p:custDataLst>
              <p:tags r:id="rId3"/>
            </p:custDataLst>
          </p:nvPr>
        </p:nvSpPr>
        <p:spPr>
          <a:xfrm>
            <a:off x="1437640" y="3620135"/>
            <a:ext cx="4250055" cy="86677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Automatically resets after serving each patient.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5605" y="1059815"/>
            <a:ext cx="4224655" cy="847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dirty="0">
                <a:solidFill>
                  <a:srgbClr val="002A80"/>
                </a:solidFill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+mn-ea"/>
              </a:rPr>
              <a:t>Billing Calculation</a:t>
            </a:r>
            <a:endParaRPr lang="en-US" sz="3600" dirty="0">
              <a:solidFill>
                <a:srgbClr val="002A80"/>
              </a:solidFill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5"/>
          <a:stretch>
            <a:fillRect/>
          </a:stretch>
        </p:blipFill>
        <p:spPr>
          <a:xfrm>
            <a:off x="6468110" y="274955"/>
            <a:ext cx="2675890" cy="4801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30530" y="483870"/>
            <a:ext cx="5562600" cy="667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/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3200" b="1" u="none" strike="noStrike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Feature 5</a:t>
            </a:r>
          </a:p>
        </p:txBody>
      </p:sp>
      <p:cxnSp>
        <p:nvCxnSpPr>
          <p:cNvPr id="206" name="Google Shape;360;p33"/>
          <p:cNvCxnSpPr/>
          <p:nvPr/>
        </p:nvCxnSpPr>
        <p:spPr>
          <a:xfrm>
            <a:off x="35560" y="196215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1" name="Google Shape;77;p15"/>
          <p:cNvSpPr/>
          <p:nvPr>
            <p:custDataLst>
              <p:tags r:id="rId1"/>
            </p:custDataLst>
          </p:nvPr>
        </p:nvSpPr>
        <p:spPr>
          <a:xfrm>
            <a:off x="614680" y="2066925"/>
            <a:ext cx="2348230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Uses Binary Search Tree (BST).</a:t>
            </a:r>
          </a:p>
        </p:txBody>
      </p:sp>
      <p:sp>
        <p:nvSpPr>
          <p:cNvPr id="12" name="Google Shape;77;p15"/>
          <p:cNvSpPr/>
          <p:nvPr>
            <p:custDataLst>
              <p:tags r:id="rId2"/>
            </p:custDataLst>
          </p:nvPr>
        </p:nvSpPr>
        <p:spPr>
          <a:xfrm>
            <a:off x="3856355" y="2066925"/>
            <a:ext cx="2331085" cy="1428115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Enhances data retrieval speed.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Google Shape;77;p15"/>
          <p:cNvSpPr/>
          <p:nvPr>
            <p:custDataLst>
              <p:tags r:id="rId3"/>
            </p:custDataLst>
          </p:nvPr>
        </p:nvSpPr>
        <p:spPr>
          <a:xfrm>
            <a:off x="1437640" y="3723640"/>
            <a:ext cx="4250055" cy="763270"/>
          </a:xfrm>
          <a:prstGeom prst="roundRect">
            <a:avLst>
              <a:gd name="adj" fmla="val 3845"/>
            </a:avLst>
          </a:prstGeom>
          <a:solidFill>
            <a:srgbClr val="101620"/>
          </a:solidFill>
          <a:ln w="22850" cap="flat" cmpd="sng">
            <a:solidFill>
              <a:srgbClr val="002A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Quickly finds patients assigned to specific doctors.</a:t>
            </a: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5605" y="1059815"/>
            <a:ext cx="4224655" cy="847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dirty="0">
                <a:solidFill>
                  <a:srgbClr val="002A80"/>
                </a:solidFill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  <a:sym typeface="+mn-ea"/>
              </a:rPr>
              <a:t>Search by Doctors</a:t>
            </a:r>
            <a:endParaRPr lang="en-US" sz="3600" dirty="0">
              <a:solidFill>
                <a:srgbClr val="002A80"/>
              </a:solidFill>
              <a:latin typeface="Times New Roman" panose="02020603050405020304" charset="0"/>
              <a:ea typeface="Calibri" panose="020F05020202040302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5"/>
          <a:stretch>
            <a:fillRect/>
          </a:stretch>
        </p:blipFill>
        <p:spPr>
          <a:xfrm>
            <a:off x="6325235" y="267970"/>
            <a:ext cx="2809240" cy="4875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19240" y="3003625"/>
            <a:ext cx="869580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Save Data</a:t>
            </a:r>
          </a:p>
        </p:txBody>
      </p:sp>
      <p:cxnSp>
        <p:nvCxnSpPr>
          <p:cNvPr id="237" name="Google Shape;339;p31"/>
          <p:cNvCxnSpPr/>
          <p:nvPr/>
        </p:nvCxnSpPr>
        <p:spPr>
          <a:xfrm>
            <a:off x="-635" y="360817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38" name="Google Shape;340;p31"/>
          <p:cNvSpPr/>
          <p:nvPr/>
        </p:nvSpPr>
        <p:spPr>
          <a:xfrm>
            <a:off x="4952880" y="45720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800" b="1" u="none" strike="noStrike">
                <a:solidFill>
                  <a:schemeClr val="dk1"/>
                </a:solidFill>
                <a:effectLst/>
                <a:uFillTx/>
                <a:latin typeface="Times New Roman" panose="02020603050405020304" charset="0"/>
                <a:cs typeface="Times New Roman" panose="02020603050405020304" charset="0"/>
              </a:rPr>
              <a:t>&lt;/innovation_pipeline&gt;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51460" y="3796030"/>
            <a:ext cx="42646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sz="1800" dirty="0" smtClean="0">
                <a:solidFill>
                  <a:schemeClr val="tx1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Save 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all patient and appointment data to CSV.</a:t>
            </a:r>
            <a:endParaRPr sz="1800" dirty="0">
              <a:solidFill>
                <a:schemeClr val="tx1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1800" dirty="0" smtClean="0">
                <a:solidFill>
                  <a:schemeClr val="tx1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Automatically </a:t>
            </a:r>
            <a:r>
              <a:rPr sz="1800" dirty="0">
                <a:solidFill>
                  <a:schemeClr val="tx1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loads saved data at startup.</a:t>
            </a:r>
            <a:endParaRPr sz="1800" dirty="0">
              <a:solidFill>
                <a:schemeClr val="tx1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endParaRPr lang="en-US" sz="1800" dirty="0">
              <a:solidFill>
                <a:schemeClr val="tx1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539115" y="457200"/>
            <a:ext cx="2686685" cy="268732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6771640" y="715010"/>
            <a:ext cx="2143125" cy="2309495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3707765" y="1708150"/>
            <a:ext cx="2160270" cy="791845"/>
          </a:xfrm>
          <a:prstGeom prst="rightArrow">
            <a:avLst/>
          </a:prstGeom>
          <a:solidFill>
            <a:srgbClr val="002A8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3359785" y="340360"/>
            <a:ext cx="4447540" cy="9747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Data Structure summary</a:t>
            </a:r>
          </a:p>
        </p:txBody>
      </p:sp>
      <p:cxnSp>
        <p:nvCxnSpPr>
          <p:cNvPr id="214" name="Google Shape;348;p32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19" name="Google Shape;353;p32"/>
          <p:cNvSpPr/>
          <p:nvPr/>
        </p:nvSpPr>
        <p:spPr>
          <a:xfrm rot="16200000">
            <a:off x="1629000" y="223884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347720" y="1131570"/>
            <a:ext cx="3048000" cy="2874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Linked List – Store patients</a:t>
            </a:r>
          </a:p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endParaRPr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Queue – Handle appointments</a:t>
            </a:r>
          </a:p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endParaRPr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Stack – Undo actions</a:t>
            </a:r>
          </a:p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endParaRPr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Tree – Search by doctor</a:t>
            </a:r>
          </a:p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endParaRPr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CSV – Persistent storage</a:t>
            </a:r>
            <a:endParaRPr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endParaRPr lang="en-US"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50495" y="699770"/>
            <a:ext cx="3088640" cy="3883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219240" y="3063315"/>
            <a:ext cx="869580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Conclusions</a:t>
            </a:r>
          </a:p>
        </p:txBody>
      </p:sp>
      <p:pic>
        <p:nvPicPr>
          <p:cNvPr id="240" name="Google Shape;337;p31"/>
          <p:cNvPicPr/>
          <p:nvPr/>
        </p:nvPicPr>
        <p:blipFill>
          <a:blip r:embed="rId2"/>
          <a:srcRect t="18273" b="18273"/>
          <a:stretch>
            <a:fillRect/>
          </a:stretch>
        </p:blipFill>
        <p:spPr>
          <a:xfrm>
            <a:off x="228600" y="417615"/>
            <a:ext cx="7299360" cy="2645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42" name="Google Shape;339;p31"/>
          <p:cNvCxnSpPr/>
          <p:nvPr/>
        </p:nvCxnSpPr>
        <p:spPr>
          <a:xfrm>
            <a:off x="0" y="3795495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Text Box 1"/>
          <p:cNvSpPr txBox="1"/>
          <p:nvPr/>
        </p:nvSpPr>
        <p:spPr>
          <a:xfrm>
            <a:off x="251460" y="3939540"/>
            <a:ext cx="6347460" cy="1134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ü"/>
            </a:pPr>
            <a:r>
              <a:rPr sz="1800" dirty="0">
                <a:solidFill>
                  <a:schemeClr val="bg2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Simplifies hospital management process.</a:t>
            </a:r>
            <a:endParaRPr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Integrates Python with Data Structures.</a:t>
            </a:r>
            <a:endParaRPr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ü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Times New Roman" panose="02020603050405020304" charset="0"/>
                <a:ea typeface="Calibri Light" panose="020F0302020204030204" pitchFamily="34" charset="0"/>
                <a:cs typeface="Times New Roman" panose="02020603050405020304" charset="0"/>
                <a:sym typeface="+mn-ea"/>
              </a:rPr>
              <a:t>Demonstrates teamwork, design, and problem-solving.</a:t>
            </a:r>
            <a:endParaRPr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  <a:p>
            <a:endParaRPr lang="en-US" sz="1800" dirty="0">
              <a:solidFill>
                <a:schemeClr val="bg2"/>
              </a:solidFill>
              <a:latin typeface="Times New Roman" panose="02020603050405020304" charset="0"/>
              <a:ea typeface="Calibri Light" panose="020F0302020204030204" pitchFamily="3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539750" y="698500"/>
            <a:ext cx="5215890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sz="2800" kern="0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  <a:sym typeface="+mn-ea"/>
              </a:rPr>
              <a:t>Future Improvements</a:t>
            </a:r>
            <a:endParaRPr lang="en-US" sz="3200" dirty="0">
              <a:solidFill>
                <a:schemeClr val="tx2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11505" y="1706880"/>
            <a:ext cx="3897630" cy="2480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v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Add login system for doctors/staff.</a:t>
            </a:r>
          </a:p>
          <a:p>
            <a:pPr marL="285750" indent="-285750">
              <a:buFont typeface="Wingdings" panose="05000000000000000000" charset="0"/>
              <a:buChar char="v"/>
              <a:defRPr sz="2200">
                <a:solidFill>
                  <a:srgbClr val="282828"/>
                </a:solidFill>
              </a:defRPr>
            </a:pPr>
            <a:endParaRPr sz="18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charset="0"/>
              <a:buChar char="v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Use MySQL or SQLite database.</a:t>
            </a:r>
          </a:p>
          <a:p>
            <a:pPr marL="285750" indent="-285750">
              <a:buFont typeface="Wingdings" panose="05000000000000000000" charset="0"/>
              <a:buChar char="v"/>
              <a:defRPr sz="2200">
                <a:solidFill>
                  <a:srgbClr val="282828"/>
                </a:solidFill>
              </a:defRPr>
            </a:pPr>
            <a:endParaRPr sz="18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charset="0"/>
              <a:buChar char="v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Generate PDF receipts for bills.</a:t>
            </a:r>
          </a:p>
          <a:p>
            <a:pPr marL="285750" indent="-285750">
              <a:buFont typeface="Wingdings" panose="05000000000000000000" charset="0"/>
              <a:buChar char="v"/>
              <a:defRPr sz="2200">
                <a:solidFill>
                  <a:srgbClr val="282828"/>
                </a:solidFill>
              </a:defRPr>
            </a:pPr>
            <a:endParaRPr sz="18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 panose="05000000000000000000" charset="0"/>
              <a:buChar char="v"/>
              <a:defRPr sz="2200">
                <a:solidFill>
                  <a:srgbClr val="282828"/>
                </a:solidFill>
              </a:defRPr>
            </a:pPr>
            <a:r>
              <a:rPr sz="1800" dirty="0">
                <a:solidFill>
                  <a:schemeClr val="bg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Mobile responsive design.</a:t>
            </a:r>
            <a:endParaRPr sz="18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800" dirty="0">
              <a:solidFill>
                <a:schemeClr val="bg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408805" y="231140"/>
            <a:ext cx="4725670" cy="49288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190" y="1725058"/>
            <a:ext cx="6682563" cy="1433482"/>
          </a:xfrm>
        </p:spPr>
        <p:txBody>
          <a:bodyPr/>
          <a:lstStyle/>
          <a:p>
            <a:pPr algn="ctr"/>
            <a:r>
              <a:rPr lang="en-GB" sz="4400" b="1" u="none" strike="noStrike" dirty="0" smtClean="0">
                <a:solidFill>
                  <a:srgbClr val="00E8FF"/>
                </a:solidFill>
                <a:effectLst/>
                <a:uFillTx/>
                <a:latin typeface="Times New Roman" panose="02020603050405020304" charset="0"/>
                <a:ea typeface="Space Grotesk"/>
                <a:cs typeface="Times New Roman" panose="02020603050405020304" charset="0"/>
              </a:rPr>
              <a:t>Thank you</a:t>
            </a:r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ea typeface="Space Grotesk"/>
                <a:cs typeface="Times New Roman" panose="02020603050405020304" pitchFamily="18" charset="0"/>
              </a:rPr>
              <a:t/>
            </a:r>
            <a:b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ea typeface="Space Grotesk"/>
                <a:cs typeface="Times New Roman" panose="02020603050405020304" pitchFamily="18" charset="0"/>
              </a:rPr>
            </a:br>
            <a:r>
              <a:rPr lang="en-GB" sz="2400" b="1" dirty="0" smtClean="0">
                <a:solidFill>
                  <a:srgbClr val="00E8FF"/>
                </a:solidFill>
                <a:latin typeface="Times New Roman" panose="02020603050405020304" charset="0"/>
                <a:ea typeface="Roboto"/>
                <a:cs typeface="Times New Roman" panose="02020603050405020304" charset="0"/>
              </a:rPr>
              <a:t>Do you have any questions?</a:t>
            </a:r>
            <a:r>
              <a:rPr lang="en-US" sz="4400" dirty="0" smtClean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/>
            </a:r>
            <a:br>
              <a:rPr lang="en-US" sz="4400" dirty="0" smtClean="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8793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84.9311811023623,&quot;left&quot;:487.7531496062992,&quot;top&quot;:119.47503937007873,&quot;width&quot;:608.493700787401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5.12188976377956,&quot;left&quot;:493.5,&quot;top&quot;:202.2,&quot;width&quot;:595}"/>
</p:tagLst>
</file>

<file path=ppt/theme/theme1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354</Words>
  <Application>Microsoft Office PowerPoint</Application>
  <PresentationFormat>On-screen Show (16:9)</PresentationFormat>
  <Paragraphs>79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Arial</vt:lpstr>
      <vt:lpstr>Calibri</vt:lpstr>
      <vt:lpstr>Calibri Light</vt:lpstr>
      <vt:lpstr>Geist</vt:lpstr>
      <vt:lpstr>IBM Plex Mono SemiBold</vt:lpstr>
      <vt:lpstr>OpenSymbol</vt:lpstr>
      <vt:lpstr>Roboto</vt:lpstr>
      <vt:lpstr>Space Grotesk</vt:lpstr>
      <vt:lpstr>Space Grotesk Medium</vt:lpstr>
      <vt:lpstr>Symbol</vt:lpstr>
      <vt:lpstr>Times New Roman</vt:lpstr>
      <vt:lpstr>Wingdings</vt:lpstr>
      <vt:lpstr>Mastering Code by Slidesgo</vt:lpstr>
      <vt:lpstr>Mastering Code by Slidesgo</vt:lpstr>
      <vt:lpstr>Slidesgo Final Pages</vt:lpstr>
      <vt:lpstr>Patient Management System Course: Data Structure &amp; Algorithm   Mr. Sohail-2024-uobsac-1362 Mr. Wilayat Ali-2024-uobsac-1407 Mr. Waqar Ahmed-2024-uobsac-1367 Mr. Shabbir Hussain-2024-uobsac-1407</vt:lpstr>
      <vt:lpstr>Introduction</vt:lpstr>
      <vt:lpstr>project Overview</vt:lpstr>
      <vt:lpstr>Important and Objective</vt:lpstr>
      <vt:lpstr>Technologies Used</vt:lpstr>
      <vt:lpstr>System Architecture</vt:lpstr>
      <vt:lpstr>Features 1</vt:lpstr>
      <vt:lpstr>Features 2</vt:lpstr>
      <vt:lpstr>Features  3</vt:lpstr>
      <vt:lpstr>Feature 4</vt:lpstr>
      <vt:lpstr>Feature 5</vt:lpstr>
      <vt:lpstr>Save Data</vt:lpstr>
      <vt:lpstr>Data Structure summary</vt:lpstr>
      <vt:lpstr>Conclusions</vt:lpstr>
      <vt:lpstr>PowerPoint Presentation</vt:lpstr>
      <vt:lpstr>Thank you Do you have any questions?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System</dc:title>
  <dc:creator>Sohail</dc:creator>
  <cp:lastModifiedBy>Noman Traders</cp:lastModifiedBy>
  <cp:revision>17</cp:revision>
  <dcterms:created xsi:type="dcterms:W3CDTF">2025-11-07T06:34:00Z</dcterms:created>
  <dcterms:modified xsi:type="dcterms:W3CDTF">2025-11-09T11:34:14Z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14349DA642F44F368601059C1FBA6648_12</vt:lpwstr>
  </property>
  <property fmtid="{D5CDD505-2E9C-101B-9397-08002B2CF9AE}" pid="4" name="KSOProductBuildVer">
    <vt:lpwstr>1033-12.2.0.23155</vt:lpwstr>
  </property>
</Properties>
</file>